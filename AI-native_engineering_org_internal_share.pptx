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74859"/>
  </p:normalViewPr>
  <p:slideViewPr>
    <p:cSldViewPr snapToGrid="0" snapToObjects="1">
      <p:cViewPr varScale="1">
        <p:scale>
          <a:sx n="115" d="100"/>
          <a:sy n="115" d="100"/>
        </p:scale>
        <p:origin x="22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9492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开场不要直接复述文章。先告诉大家：这次分享的目标是用 Anthropic 的经验，反思我们自己的工程工作方式。核心问题是：如果 AI 让实现变快了，团队新的瓶颈在哪里？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这一页用来对齐预期。强调：PPT 只是工具，真正有价值的是后半段讨论。请大家边听边想：哪些流程现在已经不适合 AI 时代的工程速度？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讲解重点：不要把 AI-native 简化为提效工具。写代码只是工程链路中的一环。当这一环加速后，后面的验证、评审、发布、监控都可能成为新瓶颈。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这一页用来降低团队对“流程变更”的心理阻力。不是说以前的流程错了，而是它们对应的是过去的约束：实现慢、返工贵、人力稀缺。现在约束发生变化，就要重新评估。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解释边界很重要。JIT planning 不是“不写设计”，而是“刚好在需要的时候做刚好够用的设计”。对于高风险、不可逆或跨团队影响大的变更，仍然需要设计评审、威胁建模和回滚策略。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这一页建议引导现场思考。AI-native 的前提不是买工具，而是让组织知识可被检索、可被引用、可被验证。我们的 PR 描述、issue、设计记录和故障复盘越清晰，AI 能发挥的价值越高。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这一页可以直接映射到团队当前 review 规则。问大家：哪些 review 评论其实可以由 AI 提前完成？哪些地方必须保留强制专家审？避免把 AI 生成代码直接推给人类 reviewer，导致人类被 diff 淹没。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强调角色变化时要谨慎。PM 可以写 demo，设计可以改 UI，工程师可以参与产品内容，但最终谁负责上线质量、长期维护、安全边界，必须更明确，而不是更模糊。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这里要提醒团队，AI 使用率不是结果指标。一个团队可能 AI 使用率很高，但 bug 变多、review 堵塞、CI 被压垮。真正应该追踪的是：瓶颈有没有减少，质量有没有守住，反馈闭环有没有变快。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这一页建议停下来互动。可以让大家用便利贴或在线文档写候选流程。不要一开始讨论工具选型，先讨论痛点和瓶颈。筛选标准是：影响大、风险低、两周内能看到变化。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推荐这三个试点是因为它们不要求直接让 AI 大规模修改核心代码，但能很快改善上下文、review 和反馈闭环。分享结束时可以请团队投票：先做哪一个？谁来 owner？两周后看什么指标？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收尾时把讨论拉回行动：不是要立刻全面转型，而是选一个最值得试点的 workflow。建议当场明确 owner、范围、试点周期和衡量指标，否则分享会很容易停留在“很有启发”。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dark_blue_tech_illustration_concept_art_st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07192E">
              <a:alpha val="90000"/>
            </a:srgbClr>
          </a:solidFill>
          <a:ln w="12700">
            <a:solidFill>
              <a:srgbClr val="07192E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234440"/>
            <a:ext cx="47548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AI-native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工程团队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31520" y="2743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4C8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当写代码不再是最大瓶颈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49808" y="37490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 Anthropic《Running an AI-native engineering org》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内部分享版：观点解读 × 团队映射 × 试点行动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9808" y="5806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8B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建议时长：30–45 分钟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8B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4C8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分享目标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今天不是“文章读书会”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114300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而是一次团队工作方式升级讨论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我们要达成三个共识：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0D2943">
              <a:alpha val="95000"/>
            </a:srgbClr>
          </a:solidFill>
          <a:ln w="7620">
            <a:solidFill>
              <a:srgbClr val="204968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2176272"/>
            <a:ext cx="28529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理解趋势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50976" y="2606040"/>
            <a:ext cx="2852928" cy="1463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让代码生成变快，工程瓶颈会迁移，而不是消失。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201168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0D2943">
              <a:alpha val="95000"/>
            </a:srgbClr>
          </a:solidFill>
          <a:ln w="7620">
            <a:solidFill>
              <a:srgbClr val="204968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54296" y="2176272"/>
            <a:ext cx="28529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映射现状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54296" y="2606040"/>
            <a:ext cx="2852928" cy="1463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识别我们团队当前最慢、最吵、最依赖人的流程。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201168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0D2943">
              <a:alpha val="95000"/>
            </a:srgbClr>
          </a:solidFill>
          <a:ln w="7620">
            <a:solidFill>
              <a:srgbClr val="204968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57616" y="2176272"/>
            <a:ext cx="28529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形成试点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57616" y="2606040"/>
            <a:ext cx="2852928" cy="1463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 1–3 个低风险 workflow，先验证再推广。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60120" y="5120640"/>
            <a:ext cx="10241280" cy="0"/>
          </a:xfrm>
          <a:prstGeom prst="line">
            <a:avLst/>
          </a:prstGeom>
          <a:noFill/>
          <a:ln w="15240">
            <a:solidFill>
              <a:srgbClr val="24C8DB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349240"/>
            <a:ext cx="98755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9E6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建议节奏：20 分钟观点解读 + 10 分钟团队映射 + 10–15 分钟试点讨论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8B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detail_stylized_infographic_concept_art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972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4C8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核心判断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4008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瓶颈从“写代码”迁移到“判断与验证”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76656" y="114300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代码产出变快后，组织要重新识别稀缺资源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85800" y="1554480"/>
            <a:ext cx="3840480" cy="4114800"/>
          </a:xfrm>
          <a:prstGeom prst="rect">
            <a:avLst/>
          </a:prstGeom>
          <a:solidFill>
            <a:srgbClr val="061421">
              <a:alpha val="92000"/>
            </a:srgbClr>
          </a:solidFill>
          <a:ln w="12700">
            <a:solidFill>
              <a:srgbClr val="15314D">
                <a:alpha val="6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35240" y="1554480"/>
            <a:ext cx="3840480" cy="4114800"/>
          </a:xfrm>
          <a:prstGeom prst="rect">
            <a:avLst/>
          </a:prstGeom>
          <a:solidFill>
            <a:srgbClr val="061421">
              <a:alpha val="92000"/>
            </a:srgbClr>
          </a:solidFill>
          <a:ln w="12700">
            <a:solidFill>
              <a:srgbClr val="15314D">
                <a:alpha val="6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5B7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过去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60120" y="2606040"/>
            <a:ext cx="310896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工程人力稀缺
• 写代码慢，返工贵
• 流程围绕“保护产能”设计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90956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4C8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AI-native 后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909560" y="2606040"/>
            <a:ext cx="320040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实现变快
• 验证、review、上下文变贵
• 流程围绕“控制风险与反馈”设计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514600" y="5989320"/>
            <a:ext cx="71323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真正的问题不是“AI 能写多少代码”，而是“我们能否更快确认代码是对的”。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8B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4C8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旧流程为什么存在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很多工程流程，是为“代码昂贵”时代设计的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114300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流程不是天然正确，它服务于当时的成本结构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2286000" cy="3108960"/>
          </a:xfrm>
          <a:prstGeom prst="roundRect">
            <a:avLst>
              <a:gd name="adj" fmla="val 4800"/>
            </a:avLst>
          </a:prstGeom>
          <a:solidFill>
            <a:srgbClr val="0D2943">
              <a:alpha val="95000"/>
            </a:srgbClr>
          </a:solidFill>
          <a:ln w="7620">
            <a:solidFill>
              <a:srgbClr val="204968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" y="1673352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Roadmap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6696" y="2103120"/>
            <a:ext cx="1847088" cy="2377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尽量提前预测，避免后续返工。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9000" y="1508760"/>
            <a:ext cx="2286000" cy="3108960"/>
          </a:xfrm>
          <a:prstGeom prst="roundRect">
            <a:avLst>
              <a:gd name="adj" fmla="val 4800"/>
            </a:avLst>
          </a:prstGeom>
          <a:solidFill>
            <a:srgbClr val="0D2943">
              <a:alpha val="95000"/>
            </a:srgbClr>
          </a:solidFill>
          <a:ln w="7620">
            <a:solidFill>
              <a:srgbClr val="204968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48456" y="1673352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Design Doc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48456" y="2103120"/>
            <a:ext cx="1847088" cy="2377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先讨论清楚，再投入昂贵开发。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80760" y="1508760"/>
            <a:ext cx="2286000" cy="3108960"/>
          </a:xfrm>
          <a:prstGeom prst="roundRect">
            <a:avLst>
              <a:gd name="adj" fmla="val 4800"/>
            </a:avLst>
          </a:prstGeom>
          <a:solidFill>
            <a:srgbClr val="0D2943">
              <a:alpha val="95000"/>
            </a:srgbClr>
          </a:solidFill>
          <a:ln w="7620">
            <a:solidFill>
              <a:srgbClr val="204968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0216" y="1673352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Sprint / 排期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0216" y="2103120"/>
            <a:ext cx="1847088" cy="2377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把稀缺工程产能分配到最重要需求。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32520" y="1508760"/>
            <a:ext cx="2286000" cy="3108960"/>
          </a:xfrm>
          <a:prstGeom prst="roundRect">
            <a:avLst>
              <a:gd name="adj" fmla="val 4800"/>
            </a:avLst>
          </a:prstGeom>
          <a:solidFill>
            <a:srgbClr val="0D2943">
              <a:alpha val="95000"/>
            </a:srgbClr>
          </a:solidFill>
          <a:ln w="7620">
            <a:solidFill>
              <a:srgbClr val="204968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51976" y="1673352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Review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51976" y="2103120"/>
            <a:ext cx="1847088" cy="2377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用人类检查每个细节，降低上线风险。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874520" y="53949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4C8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当成本结构变化，流程也必须被重新审视。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8B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polished_vector_3d_flat_editorial_illustration_o_batch_3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972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4C8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规划方式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4008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从长期路线图，转向 Just-in-Time planning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76656" y="114300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目标是缩短反馈回路，而不是取消规划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31520" y="1600200"/>
            <a:ext cx="3840480" cy="3108960"/>
          </a:xfrm>
          <a:prstGeom prst="roundRect">
            <a:avLst>
              <a:gd name="adj" fmla="val 3529"/>
            </a:avLst>
          </a:prstGeom>
          <a:solidFill>
            <a:srgbClr val="0D2943">
              <a:alpha val="95000"/>
            </a:srgbClr>
          </a:solidFill>
          <a:ln w="7620">
            <a:solidFill>
              <a:srgbClr val="204968">
                <a:alpha val="6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50976" y="1764792"/>
            <a:ext cx="340156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传统路径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50976" y="2194560"/>
            <a:ext cx="3401568" cy="2377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 → 设计文档 → 评审 → 排期 → 开发 → 测试 → 发布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635240" y="1600200"/>
            <a:ext cx="3840480" cy="3108960"/>
          </a:xfrm>
          <a:prstGeom prst="roundRect">
            <a:avLst>
              <a:gd name="adj" fmla="val 3529"/>
            </a:avLst>
          </a:prstGeom>
          <a:solidFill>
            <a:srgbClr val="0D2943">
              <a:alpha val="95000"/>
            </a:srgbClr>
          </a:solidFill>
          <a:ln w="7620">
            <a:solidFill>
              <a:srgbClr val="204968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54696" y="1764792"/>
            <a:ext cx="340156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AI-native 路径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54696" y="2194560"/>
            <a:ext cx="3401568" cy="2377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问题假设 → 快速 prototype → 内部 dogfood → 反馈 → 迭代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051560" y="5212080"/>
            <a:ext cx="4206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9E6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适合：探索型、可回滚、低风险功能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0" y="5212080"/>
            <a:ext cx="4754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5B7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不适合：权限、安全、支付、核心架构等高风险变更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8B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4C8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上下文工程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上下文会成为工程组织的核心资产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114300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的效果取决于它能拿到多完整、多可信的上下文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3840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5B7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从“找作者问”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0" y="1600200"/>
            <a:ext cx="4754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4C8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到“问系统 + 找专家验证”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39319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代码背景在个人脑中
• 新人理解模块靠口口相传
• 决策过程容易丢失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0" y="2423160"/>
            <a:ext cx="420624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PR / issue / 文档沉淀决策
• AI 汇总代码、日志、反馈
• 专家时间用于判断而非重复解释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0" y="1920240"/>
            <a:ext cx="0" cy="3017520"/>
          </a:xfrm>
          <a:prstGeom prst="line">
            <a:avLst/>
          </a:prstGeom>
          <a:noFill/>
          <a:ln w="15240">
            <a:solidFill>
              <a:srgbClr val="24C8D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5349240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团队自检：新人想理解一个模块，主要靠文档和系统上下文，还是靠问老同事？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8B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ly_detailed_stylized_vector_3d_ish_illustra_batch_4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27432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972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4C8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Code Review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4008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人类不应该继续审所有低层细节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76656" y="114300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Review 要从“全量人工检查”升级为“分层风险控制”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77240" y="1417320"/>
            <a:ext cx="2560320" cy="566928"/>
          </a:xfrm>
          <a:prstGeom prst="rect">
            <a:avLst/>
          </a:prstGeom>
          <a:solidFill>
            <a:srgbClr val="123554"/>
          </a:solidFill>
          <a:ln w="6350">
            <a:solidFill>
              <a:srgbClr val="2D5B77">
                <a:alpha val="6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" y="1536192"/>
            <a:ext cx="241401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69E6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检查类型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337560" y="1417320"/>
            <a:ext cx="3886200" cy="566928"/>
          </a:xfrm>
          <a:prstGeom prst="rect">
            <a:avLst/>
          </a:prstGeom>
          <a:solidFill>
            <a:srgbClr val="123554"/>
          </a:solidFill>
          <a:ln w="6350">
            <a:solidFill>
              <a:srgbClr val="2D5B77">
                <a:alpha val="6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10712" y="1536192"/>
            <a:ext cx="373989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69E6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前置处理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223760" y="1417320"/>
            <a:ext cx="4206240" cy="566928"/>
          </a:xfrm>
          <a:prstGeom prst="rect">
            <a:avLst/>
          </a:prstGeom>
          <a:solidFill>
            <a:srgbClr val="123554"/>
          </a:solidFill>
          <a:ln w="6350">
            <a:solidFill>
              <a:srgbClr val="2D5B77">
                <a:alpha val="6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96912" y="1536192"/>
            <a:ext cx="40599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69E6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人类重点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77240" y="1984248"/>
            <a:ext cx="2560320" cy="566928"/>
          </a:xfrm>
          <a:prstGeom prst="rect">
            <a:avLst/>
          </a:prstGeom>
          <a:solidFill>
            <a:srgbClr val="0D2943">
              <a:alpha val="92000"/>
            </a:srgbClr>
          </a:solidFill>
          <a:ln w="6350">
            <a:solidFill>
              <a:srgbClr val="2D5B77">
                <a:alpha val="6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" y="2103120"/>
            <a:ext cx="241401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Lint / 命名 / 格式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3337560" y="1984248"/>
            <a:ext cx="3886200" cy="566928"/>
          </a:xfrm>
          <a:prstGeom prst="rect">
            <a:avLst/>
          </a:prstGeom>
          <a:solidFill>
            <a:srgbClr val="0D2943">
              <a:alpha val="92000"/>
            </a:srgbClr>
          </a:solidFill>
          <a:ln w="6350">
            <a:solidFill>
              <a:srgbClr val="2D5B77">
                <a:alpha val="6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10712" y="2103120"/>
            <a:ext cx="373989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自动修复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7223760" y="1984248"/>
            <a:ext cx="4206240" cy="566928"/>
          </a:xfrm>
          <a:prstGeom prst="rect">
            <a:avLst/>
          </a:prstGeom>
          <a:solidFill>
            <a:srgbClr val="0D2943">
              <a:alpha val="92000"/>
            </a:srgbClr>
          </a:solidFill>
          <a:ln w="6350">
            <a:solidFill>
              <a:srgbClr val="2D5B77">
                <a:alpha val="6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96912" y="2103120"/>
            <a:ext cx="40599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少量抽查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777240" y="2551176"/>
            <a:ext cx="2560320" cy="566928"/>
          </a:xfrm>
          <a:prstGeom prst="rect">
            <a:avLst/>
          </a:prstGeom>
          <a:solidFill>
            <a:srgbClr val="0A2036">
              <a:alpha val="92000"/>
            </a:srgbClr>
          </a:solidFill>
          <a:ln w="6350">
            <a:solidFill>
              <a:srgbClr val="2D5B77">
                <a:alpha val="6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0392" y="2670048"/>
            <a:ext cx="241401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常规 bug / 边界条件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3337560" y="2551176"/>
            <a:ext cx="3886200" cy="566928"/>
          </a:xfrm>
          <a:prstGeom prst="rect">
            <a:avLst/>
          </a:prstGeom>
          <a:solidFill>
            <a:srgbClr val="0A2036">
              <a:alpha val="92000"/>
            </a:srgbClr>
          </a:solidFill>
          <a:ln w="6350">
            <a:solidFill>
              <a:srgbClr val="2D5B77">
                <a:alpha val="6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10712" y="2670048"/>
            <a:ext cx="373989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自动提示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7223760" y="2551176"/>
            <a:ext cx="4206240" cy="566928"/>
          </a:xfrm>
          <a:prstGeom prst="rect">
            <a:avLst/>
          </a:prstGeom>
          <a:solidFill>
            <a:srgbClr val="0A2036">
              <a:alpha val="92000"/>
            </a:srgbClr>
          </a:solidFill>
          <a:ln w="6350">
            <a:solidFill>
              <a:srgbClr val="2D5B77">
                <a:alpha val="6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96912" y="2670048"/>
            <a:ext cx="40599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复杂逻辑复核</a:t>
            </a:r>
            <a:endParaRPr lang="en-US" sz="1020" dirty="0"/>
          </a:p>
        </p:txBody>
      </p:sp>
      <p:sp>
        <p:nvSpPr>
          <p:cNvPr id="24" name="Shape 21"/>
          <p:cNvSpPr/>
          <p:nvPr/>
        </p:nvSpPr>
        <p:spPr>
          <a:xfrm>
            <a:off x="777240" y="3118104"/>
            <a:ext cx="2560320" cy="566928"/>
          </a:xfrm>
          <a:prstGeom prst="rect">
            <a:avLst/>
          </a:prstGeom>
          <a:solidFill>
            <a:srgbClr val="0D2943">
              <a:alpha val="92000"/>
            </a:srgbClr>
          </a:solidFill>
          <a:ln w="6350">
            <a:solidFill>
              <a:srgbClr val="2D5B77">
                <a:alpha val="65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50392" y="3236976"/>
            <a:ext cx="241401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测试补充</a:t>
            </a:r>
            <a:endParaRPr lang="en-US" sz="1020" dirty="0"/>
          </a:p>
        </p:txBody>
      </p:sp>
      <p:sp>
        <p:nvSpPr>
          <p:cNvPr id="26" name="Shape 23"/>
          <p:cNvSpPr/>
          <p:nvPr/>
        </p:nvSpPr>
        <p:spPr>
          <a:xfrm>
            <a:off x="3337560" y="3118104"/>
            <a:ext cx="3886200" cy="566928"/>
          </a:xfrm>
          <a:prstGeom prst="rect">
            <a:avLst/>
          </a:prstGeom>
          <a:solidFill>
            <a:srgbClr val="0D2943">
              <a:alpha val="92000"/>
            </a:srgbClr>
          </a:solidFill>
          <a:ln w="6350">
            <a:solidFill>
              <a:srgbClr val="2D5B77">
                <a:alpha val="6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10712" y="3236976"/>
            <a:ext cx="373989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生成建议与初稿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7223760" y="3118104"/>
            <a:ext cx="4206240" cy="566928"/>
          </a:xfrm>
          <a:prstGeom prst="rect">
            <a:avLst/>
          </a:prstGeom>
          <a:solidFill>
            <a:srgbClr val="0D2943">
              <a:alpha val="92000"/>
            </a:srgbClr>
          </a:solidFill>
          <a:ln w="6350">
            <a:solidFill>
              <a:srgbClr val="2D5B77">
                <a:alpha val="65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296912" y="3236976"/>
            <a:ext cx="40599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判断测试策略</a:t>
            </a:r>
            <a:endParaRPr lang="en-US" sz="1020" dirty="0"/>
          </a:p>
        </p:txBody>
      </p:sp>
      <p:sp>
        <p:nvSpPr>
          <p:cNvPr id="30" name="Shape 27"/>
          <p:cNvSpPr/>
          <p:nvPr/>
        </p:nvSpPr>
        <p:spPr>
          <a:xfrm>
            <a:off x="777240" y="3685032"/>
            <a:ext cx="2560320" cy="566928"/>
          </a:xfrm>
          <a:prstGeom prst="rect">
            <a:avLst/>
          </a:prstGeom>
          <a:solidFill>
            <a:srgbClr val="0A2036">
              <a:alpha val="92000"/>
            </a:srgbClr>
          </a:solidFill>
          <a:ln w="6350">
            <a:solidFill>
              <a:srgbClr val="2D5B77">
                <a:alpha val="65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50392" y="3803904"/>
            <a:ext cx="241401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 / 权限 / 合规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3337560" y="3685032"/>
            <a:ext cx="3886200" cy="566928"/>
          </a:xfrm>
          <a:prstGeom prst="rect">
            <a:avLst/>
          </a:prstGeom>
          <a:solidFill>
            <a:srgbClr val="0A2036">
              <a:alpha val="92000"/>
            </a:srgbClr>
          </a:solidFill>
          <a:ln w="6350">
            <a:solidFill>
              <a:srgbClr val="2D5B77">
                <a:alpha val="65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410712" y="3803904"/>
            <a:ext cx="373989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辅助扫描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7223760" y="3685032"/>
            <a:ext cx="4206240" cy="566928"/>
          </a:xfrm>
          <a:prstGeom prst="rect">
            <a:avLst/>
          </a:prstGeom>
          <a:solidFill>
            <a:srgbClr val="0A2036">
              <a:alpha val="92000"/>
            </a:srgbClr>
          </a:solidFill>
          <a:ln w="6350">
            <a:solidFill>
              <a:srgbClr val="2D5B77">
                <a:alpha val="65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296912" y="3803904"/>
            <a:ext cx="40599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专家强审</a:t>
            </a:r>
            <a:endParaRPr lang="en-US" sz="1020" dirty="0"/>
          </a:p>
        </p:txBody>
      </p:sp>
      <p:sp>
        <p:nvSpPr>
          <p:cNvPr id="36" name="Shape 33"/>
          <p:cNvSpPr/>
          <p:nvPr/>
        </p:nvSpPr>
        <p:spPr>
          <a:xfrm>
            <a:off x="777240" y="4251960"/>
            <a:ext cx="2560320" cy="566928"/>
          </a:xfrm>
          <a:prstGeom prst="rect">
            <a:avLst/>
          </a:prstGeom>
          <a:solidFill>
            <a:srgbClr val="0D2943">
              <a:alpha val="92000"/>
            </a:srgbClr>
          </a:solidFill>
          <a:ln w="6350">
            <a:solidFill>
              <a:srgbClr val="2D5B77">
                <a:alpha val="65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50392" y="4370832"/>
            <a:ext cx="241401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产品体验 / 设计 taste</a:t>
            </a:r>
            <a:endParaRPr lang="en-US" sz="1020" dirty="0"/>
          </a:p>
        </p:txBody>
      </p:sp>
      <p:sp>
        <p:nvSpPr>
          <p:cNvPr id="38" name="Shape 35"/>
          <p:cNvSpPr/>
          <p:nvPr/>
        </p:nvSpPr>
        <p:spPr>
          <a:xfrm>
            <a:off x="3337560" y="4251960"/>
            <a:ext cx="3886200" cy="566928"/>
          </a:xfrm>
          <a:prstGeom prst="rect">
            <a:avLst/>
          </a:prstGeom>
          <a:solidFill>
            <a:srgbClr val="0D2943">
              <a:alpha val="92000"/>
            </a:srgbClr>
          </a:solidFill>
          <a:ln w="6350">
            <a:solidFill>
              <a:srgbClr val="2D5B77">
                <a:alpha val="65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410712" y="4370832"/>
            <a:ext cx="373989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提出方案</a:t>
            </a:r>
            <a:endParaRPr lang="en-US" sz="1020" dirty="0"/>
          </a:p>
        </p:txBody>
      </p:sp>
      <p:sp>
        <p:nvSpPr>
          <p:cNvPr id="40" name="Shape 37"/>
          <p:cNvSpPr/>
          <p:nvPr/>
        </p:nvSpPr>
        <p:spPr>
          <a:xfrm>
            <a:off x="7223760" y="4251960"/>
            <a:ext cx="4206240" cy="566928"/>
          </a:xfrm>
          <a:prstGeom prst="rect">
            <a:avLst/>
          </a:prstGeom>
          <a:solidFill>
            <a:srgbClr val="0D2943">
              <a:alpha val="92000"/>
            </a:srgbClr>
          </a:solidFill>
          <a:ln w="6350">
            <a:solidFill>
              <a:srgbClr val="2D5B77">
                <a:alpha val="65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296912" y="4370832"/>
            <a:ext cx="40599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PM / 设计决策</a:t>
            </a:r>
            <a:endParaRPr lang="en-US" sz="1020" dirty="0"/>
          </a:p>
        </p:txBody>
      </p:sp>
      <p:sp>
        <p:nvSpPr>
          <p:cNvPr id="42" name="Text 39"/>
          <p:cNvSpPr/>
          <p:nvPr/>
        </p:nvSpPr>
        <p:spPr>
          <a:xfrm>
            <a:off x="1005840" y="5806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4C8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核心原则：AI 承担低层检查，人类审高风险、高判断价值的问题。</a:t>
            </a:r>
            <a:endParaRPr lang="en-US" sz="1700" dirty="0"/>
          </a:p>
        </p:txBody>
      </p:sp>
      <p:sp>
        <p:nvSpPr>
          <p:cNvPr id="43" name="Text 40"/>
          <p:cNvSpPr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8B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4C8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/ 团队角色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执行边界会变模糊，责任边界必须更清晰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114300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PM、设计、工程师都能更靠近实现，但 production ownership 不能模糊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3291840" cy="2971800"/>
          </a:xfrm>
          <a:prstGeom prst="roundRect">
            <a:avLst>
              <a:gd name="adj" fmla="val 3692"/>
            </a:avLst>
          </a:prstGeom>
          <a:solidFill>
            <a:srgbClr val="0D2943">
              <a:alpha val="95000"/>
            </a:srgbClr>
          </a:solidFill>
          <a:ln w="7620">
            <a:solidFill>
              <a:srgbClr val="204968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581912"/>
            <a:ext cx="28529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PM / 产品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42416" y="2011680"/>
            <a:ext cx="2852928" cy="22402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可以直接做 prototype、验证想法、整理用户反馈。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但生产质量与上线责任要明确。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291840" cy="2971800"/>
          </a:xfrm>
          <a:prstGeom prst="roundRect">
            <a:avLst>
              <a:gd name="adj" fmla="val 3692"/>
            </a:avLst>
          </a:prstGeom>
          <a:solidFill>
            <a:srgbClr val="0D2943">
              <a:alpha val="95000"/>
            </a:srgbClr>
          </a:solidFill>
          <a:ln w="7620">
            <a:solidFill>
              <a:srgbClr val="204968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4296" y="1581912"/>
            <a:ext cx="28529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 / 体验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54296" y="2011680"/>
            <a:ext cx="2852928" cy="22402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可以用 AI 快速生成交互、文案和 UI 变体。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但一致性、可访问性和体验标准要有人负责。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417320"/>
            <a:ext cx="3291840" cy="2971800"/>
          </a:xfrm>
          <a:prstGeom prst="roundRect">
            <a:avLst>
              <a:gd name="adj" fmla="val 3692"/>
            </a:avLst>
          </a:prstGeom>
          <a:solidFill>
            <a:srgbClr val="0D2943">
              <a:alpha val="95000"/>
            </a:srgbClr>
          </a:solidFill>
          <a:ln w="7620">
            <a:solidFill>
              <a:srgbClr val="204968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6176" y="1581912"/>
            <a:ext cx="28529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66176" y="2011680"/>
            <a:ext cx="2852928" cy="22402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从“写代码快”转向系统判断、约束识别、验证策略和架构取舍。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51560" y="5166360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AI-native 不是“人人都能随便改生产代码”，</a:t>
            </a:r>
            <a:r>
              <a:rPr lang="en-US" sz="2000" b="1" dirty="0" err="1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而是“更多人能参与探索，关键责任更清楚</a:t>
            </a:r>
            <a:r>
              <a:rPr lang="zh-CN" altLang="en-US" sz="20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8B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detail_polished_3d_cgi_style_concept_illus_batch_2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972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4C8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/ 指标体系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4008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不要只看 AI 使用率，要看瓶颈是否减少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76656" y="114300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adoption 是手段，交付质量和反馈速度才是目标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31520" y="1417320"/>
            <a:ext cx="3291840" cy="3383280"/>
          </a:xfrm>
          <a:prstGeom prst="roundRect">
            <a:avLst>
              <a:gd name="adj" fmla="val 3333"/>
            </a:avLst>
          </a:prstGeom>
          <a:solidFill>
            <a:srgbClr val="0D2943">
              <a:alpha val="95000"/>
            </a:srgbClr>
          </a:solidFill>
          <a:ln w="7620">
            <a:solidFill>
              <a:srgbClr val="204968">
                <a:alpha val="6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50976" y="1581912"/>
            <a:ext cx="28529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效率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50976" y="2011680"/>
            <a:ext cx="2852928" cy="2651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Onboarding 到首个有效 PR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 cycle time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Bug 定位时间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CI 排队时间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34840" y="1417320"/>
            <a:ext cx="3291840" cy="3383280"/>
          </a:xfrm>
          <a:prstGeom prst="roundRect">
            <a:avLst>
              <a:gd name="adj" fmla="val 3333"/>
            </a:avLst>
          </a:prstGeom>
          <a:solidFill>
            <a:srgbClr val="0D2943">
              <a:alpha val="95000"/>
            </a:srgbClr>
          </a:solidFill>
          <a:ln w="7620">
            <a:solidFill>
              <a:srgbClr val="204968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54296" y="1581912"/>
            <a:ext cx="28529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质量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654296" y="2011680"/>
            <a:ext cx="2852928" cy="2651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缺陷逃逸率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回滚率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线上事故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安全问题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Flaky test 比例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138160" y="1417320"/>
            <a:ext cx="3291840" cy="3383280"/>
          </a:xfrm>
          <a:prstGeom prst="roundRect">
            <a:avLst>
              <a:gd name="adj" fmla="val 3333"/>
            </a:avLst>
          </a:prstGeom>
          <a:solidFill>
            <a:srgbClr val="0D2943">
              <a:alpha val="95000"/>
            </a:srgbClr>
          </a:solidFill>
          <a:ln w="7620">
            <a:solidFill>
              <a:srgbClr val="204968">
                <a:alpha val="6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57616" y="1581912"/>
            <a:ext cx="28529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组织学习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357616" y="2011680"/>
            <a:ext cx="2852928" cy="2651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重复流程被自动化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关键知识可检索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文档过期率下降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专家解释负担下降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103120" y="5532120"/>
            <a:ext cx="8046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B7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警惕伪指标：代码行数、AI 生成量、工具登录率。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8B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4C8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 / 团队映射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把外部经验翻译成我们自己的问题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114300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现场讨论：我们最该改造哪条工程 workflow？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68680" y="1417320"/>
            <a:ext cx="4983480" cy="822960"/>
          </a:xfrm>
          <a:prstGeom prst="roundRect">
            <a:avLst>
              <a:gd name="adj" fmla="val 8889"/>
            </a:avLst>
          </a:prstGeom>
          <a:solidFill>
            <a:srgbClr val="0D2943">
              <a:alpha val="93000"/>
            </a:srgbClr>
          </a:solidFill>
          <a:ln w="12700">
            <a:solidFill>
              <a:srgbClr val="204968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0020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哪些流程最慢、最吵、最让人不想做？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4983480" cy="822960"/>
          </a:xfrm>
          <a:prstGeom prst="roundRect">
            <a:avLst>
              <a:gd name="adj" fmla="val 8889"/>
            </a:avLst>
          </a:prstGeom>
          <a:solidFill>
            <a:srgbClr val="0D2943">
              <a:alpha val="93000"/>
            </a:srgbClr>
          </a:solidFill>
          <a:ln w="12700">
            <a:solidFill>
              <a:srgbClr val="204968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60020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哪些上下文总要找老同事解释？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743200"/>
            <a:ext cx="4983480" cy="822960"/>
          </a:xfrm>
          <a:prstGeom prst="roundRect">
            <a:avLst>
              <a:gd name="adj" fmla="val 8889"/>
            </a:avLst>
          </a:prstGeom>
          <a:solidFill>
            <a:srgbClr val="0D2943">
              <a:alpha val="93000"/>
            </a:srgbClr>
          </a:solidFill>
          <a:ln w="12700">
            <a:solidFill>
              <a:srgbClr val="204968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92608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哪些 review 最消耗 senior 时间？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2743200"/>
            <a:ext cx="4983480" cy="822960"/>
          </a:xfrm>
          <a:prstGeom prst="roundRect">
            <a:avLst>
              <a:gd name="adj" fmla="val 8889"/>
            </a:avLst>
          </a:prstGeom>
          <a:solidFill>
            <a:srgbClr val="0D2943">
              <a:alpha val="93000"/>
            </a:srgbClr>
          </a:solidFill>
          <a:ln w="12700">
            <a:solidFill>
              <a:srgbClr val="204968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92608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 哪些文档或决策记录经常过期？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4069080"/>
            <a:ext cx="4983480" cy="822960"/>
          </a:xfrm>
          <a:prstGeom prst="roundRect">
            <a:avLst>
              <a:gd name="adj" fmla="val 8889"/>
            </a:avLst>
          </a:prstGeom>
          <a:solidFill>
            <a:srgbClr val="0D2943">
              <a:alpha val="93000"/>
            </a:srgbClr>
          </a:solidFill>
          <a:ln w="12700">
            <a:solidFill>
              <a:srgbClr val="204968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25196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 哪些测试、CI、发布环节最容易卡住？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4069080"/>
            <a:ext cx="4983480" cy="822960"/>
          </a:xfrm>
          <a:prstGeom prst="roundRect">
            <a:avLst>
              <a:gd name="adj" fmla="val 8889"/>
            </a:avLst>
          </a:prstGeom>
          <a:solidFill>
            <a:srgbClr val="0D2943">
              <a:alpha val="93000"/>
            </a:srgbClr>
          </a:solidFill>
          <a:ln w="12700">
            <a:solidFill>
              <a:srgbClr val="204968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425196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6. 哪些任务适合 AI 先做初稿，人类再判断？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5897880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C8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产出物：列出 3 个候选 workflow，按“影响大 / 风险低 / 可验证”排序。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8B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lean_vector_style_infographic_illustratio_batch_5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972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4C8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/ 低风险试点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4008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建议先从 3 个 workflow 开始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76656" y="114300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不改核心链路，先验证 AI-native 的组织收益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85800" y="150876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0D2943">
              <a:alpha val="95000"/>
            </a:srgbClr>
          </a:solidFill>
          <a:ln w="7620">
            <a:solidFill>
              <a:srgbClr val="20496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Text 4"/>
          <p:cNvSpPr/>
          <p:nvPr/>
        </p:nvSpPr>
        <p:spPr>
          <a:xfrm>
            <a:off x="905256" y="1673352"/>
            <a:ext cx="303580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试点 1：AI PR Reviewer 前置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05256" y="2103120"/>
            <a:ext cx="3035808" cy="2560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在人类 review 前生成 diff 摘要、风险点、测试缺口、影响模块与回滚注意事项。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70832" y="150876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0D2943">
              <a:alpha val="95000"/>
            </a:srgbClr>
          </a:solidFill>
          <a:ln w="7620">
            <a:solidFill>
              <a:srgbClr val="204968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90288" y="1673352"/>
            <a:ext cx="303580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试点 2：模块上下文生成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90288" y="2103120"/>
            <a:ext cx="3035808" cy="2560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为核心模块生成职责、入口、数据流、依赖、常见坑、测试方式和 owner 信息。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46720" y="150876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0D2943">
              <a:alpha val="95000"/>
            </a:srgbClr>
          </a:solidFill>
          <a:ln w="7620">
            <a:solidFill>
              <a:srgbClr val="20496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3" name="Text 10"/>
          <p:cNvSpPr/>
          <p:nvPr/>
        </p:nvSpPr>
        <p:spPr>
          <a:xfrm>
            <a:off x="8266176" y="1673352"/>
            <a:ext cx="303580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试点 3：反馈摘要自动化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66176" y="2103120"/>
            <a:ext cx="3035808" cy="2560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定期汇总客户反馈、Bug </a:t>
            </a:r>
            <a:r>
              <a:rPr lang="en-US" sz="1150" dirty="0" err="1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反馈、高频痛点、可能关联模块和建议优先级</a:t>
            </a:r>
            <a:r>
              <a:rPr lang="en-US" sz="115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</a:p>
          <a:p>
            <a:pPr marL="0" indent="0">
              <a:buNone/>
            </a:pPr>
            <a:endParaRPr lang="en-US" sz="1150" dirty="0">
              <a:solidFill>
                <a:srgbClr val="BDD4E6"/>
              </a:solidFill>
              <a:latin typeface="Noto Sans CJK SC" pitchFamily="34" charset="0"/>
              <a:ea typeface="Noto Sans CJK SC" pitchFamily="34" charset="-122"/>
            </a:endParaRPr>
          </a:p>
          <a:p>
            <a:pPr marL="0" indent="0">
              <a:buNone/>
            </a:pPr>
            <a:r>
              <a:rPr lang="en-US" sz="1150" dirty="0" err="1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</a:rPr>
              <a:t>先做低级问题清零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057400" y="55321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试点原则：小范围、低风险、可回滚、有指标。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8B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dark_blue_tech_illustration_concept_art_st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972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4C8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 / 收尾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4008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我们要改变的不是工具，而是工作方式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76656" y="114300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DD4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 AI 当成一次重新设计工程流程的机会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1463040"/>
            <a:ext cx="10607040" cy="2926080"/>
          </a:xfrm>
          <a:prstGeom prst="rect">
            <a:avLst/>
          </a:prstGeom>
          <a:solidFill>
            <a:srgbClr val="061421">
              <a:alpha val="90000"/>
            </a:srgbClr>
          </a:solidFill>
          <a:ln w="12700">
            <a:solidFill>
              <a:srgbClr val="173A5A">
                <a:alpha val="4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34440" y="1828800"/>
            <a:ext cx="978408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不要只问：AI 能不能帮我们写代码？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要问：我们的工程瓶颈现在在哪里？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7F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更要问：哪些流程可以被 AI 改造、自动化，甚至删除？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005840" y="49377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4C8D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讨论问题：接下来两周，我们最值得试点的一个 AI-native workflow 是什么？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635508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F8B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Source: Anthropic, “Running an AI-native engineering org”, June 3, 2026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155680" y="635508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8B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886</Words>
  <Application>Microsoft Macintosh PowerPoint</Application>
  <PresentationFormat>宽屏</PresentationFormat>
  <Paragraphs>176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Noto Sans CJK SC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Dreame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AI-native 工程团队：当写代码不再是最大瓶颈</dc:title>
  <dc:subject>AI-native engineering org internal sharing deck</dc:subject>
  <dc:creator>OpenAI</dc:creator>
  <cp:lastModifiedBy>max bian</cp:lastModifiedBy>
  <cp:revision>2</cp:revision>
  <dcterms:created xsi:type="dcterms:W3CDTF">2026-06-17T09:43:52Z</dcterms:created>
  <dcterms:modified xsi:type="dcterms:W3CDTF">2026-06-22T10:03:30Z</dcterms:modified>
</cp:coreProperties>
</file>